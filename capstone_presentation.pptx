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9" r:id="rId5"/>
    <p:sldId id="261" r:id="rId6"/>
    <p:sldId id="270" r:id="rId7"/>
    <p:sldId id="260" r:id="rId8"/>
    <p:sldId id="271" r:id="rId9"/>
    <p:sldId id="275" r:id="rId10"/>
    <p:sldId id="274" r:id="rId11"/>
    <p:sldId id="262" r:id="rId12"/>
    <p:sldId id="273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Δ PM2.5</c:v>
                </c:pt>
              </c:strCache>
            </c:strRef>
          </c:tx>
          <c:spPr>
            <a:solidFill>
              <a:srgbClr val="1A7A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86D-4A6E-BB6F-0BA5809BC4E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86D-4A6E-BB6F-0BA5809BC4E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86D-4A6E-BB6F-0BA5809BC4E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86D-4A6E-BB6F-0BA5809BC4E2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 (low)</c:v>
                </c:pt>
                <c:pt idx="1">
                  <c:v>Q2</c:v>
                </c:pt>
                <c:pt idx="2">
                  <c:v>Q3</c:v>
                </c:pt>
                <c:pt idx="3">
                  <c:v>Q4 (high)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0.67600000000000005</c:v>
                </c:pt>
                <c:pt idx="1">
                  <c:v>0.45</c:v>
                </c:pt>
                <c:pt idx="2">
                  <c:v>0.32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86D-4A6E-BB6F-0BA5809BC4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A8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A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Δ PM2.5</c:v>
                </c:pt>
              </c:strCache>
            </c:strRef>
          </c:tx>
          <c:spPr>
            <a:solidFill>
              <a:srgbClr val="6C7A8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35E-4AF2-9A96-ADA129D6BAE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35E-4AF2-9A96-ADA129D6BAE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35E-4AF2-9A96-ADA129D6BAE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35E-4AF2-9A96-ADA129D6BAE1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
(most white)</c:v>
                </c:pt>
                <c:pt idx="1">
                  <c:v>Q2</c:v>
                </c:pt>
                <c:pt idx="2">
                  <c:v>Q3</c:v>
                </c:pt>
                <c:pt idx="3">
                  <c:v>Q4
(most nonwhite)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0.437</c:v>
                </c:pt>
                <c:pt idx="1">
                  <c:v>0.44400000000000001</c:v>
                </c:pt>
                <c:pt idx="2">
                  <c:v>0.44600000000000001</c:v>
                </c:pt>
                <c:pt idx="3">
                  <c:v>0.371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35E-4AF2-9A96-ADA129D6BA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A8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A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Δ PM2.5</c:v>
                </c:pt>
              </c:strCache>
            </c:strRef>
          </c:tx>
          <c:spPr>
            <a:ln w="31750" cap="flat">
              <a:solidFill>
                <a:srgbClr val="1B4F7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4F72"/>
              </a:solidFill>
              <a:ln w="9525" cap="flat">
                <a:solidFill>
                  <a:srgbClr val="1B4F72"/>
                </a:solidFill>
                <a:prstDash val="solid"/>
                <a:round/>
              </a:ln>
              <a:effectLst/>
            </c:spPr>
          </c:marker>
          <c:cat>
            <c:strRef>
              <c:f>Sheet1!$A$2:$A$48</c:f>
              <c:strCache>
                <c:ptCount val="47"/>
                <c:pt idx="0">
                  <c:v>2018-01</c:v>
                </c:pt>
                <c:pt idx="1">
                  <c:v>2018-02</c:v>
                </c:pt>
                <c:pt idx="2">
                  <c:v>2018-03</c:v>
                </c:pt>
                <c:pt idx="3">
                  <c:v>2018-04</c:v>
                </c:pt>
                <c:pt idx="4">
                  <c:v>2018-05</c:v>
                </c:pt>
                <c:pt idx="5">
                  <c:v>2018-06</c:v>
                </c:pt>
                <c:pt idx="6">
                  <c:v>2018-07</c:v>
                </c:pt>
                <c:pt idx="7">
                  <c:v>2018-08</c:v>
                </c:pt>
                <c:pt idx="8">
                  <c:v>2018-09</c:v>
                </c:pt>
                <c:pt idx="9">
                  <c:v>2018-10</c:v>
                </c:pt>
                <c:pt idx="10">
                  <c:v>2018-11</c:v>
                </c:pt>
                <c:pt idx="11">
                  <c:v>2018-12</c:v>
                </c:pt>
                <c:pt idx="12">
                  <c:v>2019-01</c:v>
                </c:pt>
                <c:pt idx="13">
                  <c:v>2019-02</c:v>
                </c:pt>
                <c:pt idx="14">
                  <c:v>2019-03</c:v>
                </c:pt>
                <c:pt idx="15">
                  <c:v>2019-04</c:v>
                </c:pt>
                <c:pt idx="16">
                  <c:v>2019-05</c:v>
                </c:pt>
                <c:pt idx="17">
                  <c:v>2019-06</c:v>
                </c:pt>
                <c:pt idx="18">
                  <c:v>2019-07</c:v>
                </c:pt>
                <c:pt idx="19">
                  <c:v>2019-08</c:v>
                </c:pt>
                <c:pt idx="20">
                  <c:v>2019-09</c:v>
                </c:pt>
                <c:pt idx="21">
                  <c:v>2019-10</c:v>
                </c:pt>
                <c:pt idx="22">
                  <c:v>2019-11</c:v>
                </c:pt>
                <c:pt idx="23">
                  <c:v>2019-12</c:v>
                </c:pt>
                <c:pt idx="24">
                  <c:v>2020-01</c:v>
                </c:pt>
                <c:pt idx="25">
                  <c:v>2020-02</c:v>
                </c:pt>
                <c:pt idx="26">
                  <c:v>2020-03</c:v>
                </c:pt>
                <c:pt idx="27">
                  <c:v>2020-04</c:v>
                </c:pt>
                <c:pt idx="28">
                  <c:v>2020-05</c:v>
                </c:pt>
                <c:pt idx="29">
                  <c:v>2020-06</c:v>
                </c:pt>
                <c:pt idx="30">
                  <c:v>2020-07</c:v>
                </c:pt>
                <c:pt idx="31">
                  <c:v>2020-08</c:v>
                </c:pt>
                <c:pt idx="32">
                  <c:v>2020-09</c:v>
                </c:pt>
                <c:pt idx="33">
                  <c:v>2020-10</c:v>
                </c:pt>
                <c:pt idx="34">
                  <c:v>2020-11</c:v>
                </c:pt>
                <c:pt idx="35">
                  <c:v>2020-12</c:v>
                </c:pt>
                <c:pt idx="36">
                  <c:v>2021-01</c:v>
                </c:pt>
                <c:pt idx="37">
                  <c:v>2021-02</c:v>
                </c:pt>
                <c:pt idx="38">
                  <c:v>2021-03</c:v>
                </c:pt>
                <c:pt idx="39">
                  <c:v>2021-04</c:v>
                </c:pt>
                <c:pt idx="40">
                  <c:v>2021-05</c:v>
                </c:pt>
                <c:pt idx="41">
                  <c:v>2021-06</c:v>
                </c:pt>
                <c:pt idx="42">
                  <c:v>2021-07</c:v>
                </c:pt>
                <c:pt idx="43">
                  <c:v>2021-08</c:v>
                </c:pt>
                <c:pt idx="44">
                  <c:v>2021-09</c:v>
                </c:pt>
                <c:pt idx="45">
                  <c:v>2021-10</c:v>
                </c:pt>
                <c:pt idx="46">
                  <c:v>2021-11</c:v>
                </c:pt>
              </c:strCache>
            </c:strRef>
          </c:cat>
          <c:val>
            <c:numRef>
              <c:f>Sheet1!$B$2:$B$48</c:f>
              <c:numCache>
                <c:formatCode>General</c:formatCode>
                <c:ptCount val="47"/>
                <c:pt idx="0">
                  <c:v>0.5</c:v>
                </c:pt>
                <c:pt idx="1">
                  <c:v>0.48</c:v>
                </c:pt>
                <c:pt idx="2">
                  <c:v>0.35</c:v>
                </c:pt>
                <c:pt idx="3">
                  <c:v>0.28000000000000003</c:v>
                </c:pt>
                <c:pt idx="4">
                  <c:v>0.25</c:v>
                </c:pt>
                <c:pt idx="5">
                  <c:v>0.22</c:v>
                </c:pt>
                <c:pt idx="6">
                  <c:v>0.28000000000000003</c:v>
                </c:pt>
                <c:pt idx="7">
                  <c:v>0.3</c:v>
                </c:pt>
                <c:pt idx="8">
                  <c:v>0.35</c:v>
                </c:pt>
                <c:pt idx="9">
                  <c:v>0.45</c:v>
                </c:pt>
                <c:pt idx="10">
                  <c:v>0.55000000000000004</c:v>
                </c:pt>
                <c:pt idx="11">
                  <c:v>0.57999999999999996</c:v>
                </c:pt>
                <c:pt idx="12">
                  <c:v>0.52</c:v>
                </c:pt>
                <c:pt idx="13">
                  <c:v>0.5</c:v>
                </c:pt>
                <c:pt idx="14">
                  <c:v>0.37</c:v>
                </c:pt>
                <c:pt idx="15">
                  <c:v>0.28999999999999998</c:v>
                </c:pt>
                <c:pt idx="16">
                  <c:v>0.26</c:v>
                </c:pt>
                <c:pt idx="17">
                  <c:v>0.23</c:v>
                </c:pt>
                <c:pt idx="18">
                  <c:v>0.3</c:v>
                </c:pt>
                <c:pt idx="19">
                  <c:v>0.32</c:v>
                </c:pt>
                <c:pt idx="20">
                  <c:v>0.37</c:v>
                </c:pt>
                <c:pt idx="21">
                  <c:v>0.47</c:v>
                </c:pt>
                <c:pt idx="22">
                  <c:v>0.56000000000000005</c:v>
                </c:pt>
                <c:pt idx="23">
                  <c:v>0.6</c:v>
                </c:pt>
                <c:pt idx="24">
                  <c:v>0.54</c:v>
                </c:pt>
                <c:pt idx="25">
                  <c:v>0.52</c:v>
                </c:pt>
                <c:pt idx="26">
                  <c:v>0.18</c:v>
                </c:pt>
                <c:pt idx="27">
                  <c:v>0.15</c:v>
                </c:pt>
                <c:pt idx="28">
                  <c:v>0.13</c:v>
                </c:pt>
                <c:pt idx="29">
                  <c:v>0.12</c:v>
                </c:pt>
                <c:pt idx="30">
                  <c:v>0.16</c:v>
                </c:pt>
                <c:pt idx="31">
                  <c:v>0.18</c:v>
                </c:pt>
                <c:pt idx="32">
                  <c:v>0.22</c:v>
                </c:pt>
                <c:pt idx="33">
                  <c:v>0.28000000000000003</c:v>
                </c:pt>
                <c:pt idx="34">
                  <c:v>0.32</c:v>
                </c:pt>
                <c:pt idx="35">
                  <c:v>0.34</c:v>
                </c:pt>
                <c:pt idx="36">
                  <c:v>0.22</c:v>
                </c:pt>
                <c:pt idx="37">
                  <c:v>0.2</c:v>
                </c:pt>
                <c:pt idx="38">
                  <c:v>0.16</c:v>
                </c:pt>
                <c:pt idx="39">
                  <c:v>0.14000000000000001</c:v>
                </c:pt>
                <c:pt idx="40">
                  <c:v>0.12</c:v>
                </c:pt>
                <c:pt idx="41">
                  <c:v>0.11</c:v>
                </c:pt>
                <c:pt idx="42">
                  <c:v>0.15</c:v>
                </c:pt>
                <c:pt idx="43">
                  <c:v>0.17</c:v>
                </c:pt>
                <c:pt idx="44">
                  <c:v>0.2</c:v>
                </c:pt>
                <c:pt idx="45">
                  <c:v>0.24</c:v>
                </c:pt>
                <c:pt idx="46">
                  <c:v>0.27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F07-4105-ABAB-261F315470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A8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2"/>
        <c:noMultiLvlLbl val="1"/>
      </c:catAx>
      <c:valAx>
        <c:axId val="2094734552"/>
        <c:scaling>
          <c:orientation val="minMax"/>
          <c:max val="0.7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A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3908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Residence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196596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Mobility-Driven PM2.5 Exposure Disparity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Washington DC Metropolitan Area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3017520"/>
            <a:ext cx="4114800" cy="0"/>
          </a:xfrm>
          <a:prstGeom prst="line">
            <a:avLst/>
          </a:prstGeom>
          <a:noFill/>
          <a:ln w="1905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32461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</a:t>
            </a: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GHAP PM2.5 · SafeGraph Patterns · ACS Demographics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36118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Period: </a:t>
            </a: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2018 – November 2021 (47 months) · 2,548 CBGs · 4.2M residents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MOTIVATION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EJ Research Misses Mobility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566160" cy="3200400"/>
          </a:xfrm>
          <a:prstGeom prst="rect">
            <a:avLst/>
          </a:prstGeom>
          <a:solidFill>
            <a:srgbClr val="F4F6F7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C7A89"/>
                </a:solidFill>
              </a:rPr>
              <a:t>STANDARD APPROACH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Where does someone live?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PM2.5
</a:t>
            </a:r>
            <a:r>
              <a:rPr lang="en-US" sz="12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Demographics predict residential exposure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Ignores where people actually go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Understates true burden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0520" y="2743200"/>
            <a:ext cx="822960" cy="41148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60520" y="27432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0" y="1234440"/>
            <a:ext cx="3566160" cy="3200400"/>
          </a:xfrm>
          <a:prstGeom prst="rect">
            <a:avLst/>
          </a:prstGeom>
          <a:solidFill>
            <a:srgbClr val="EAF7FB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7A8A"/>
                </a:solidFill>
              </a:rPr>
              <a:t>THIS STUDY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Where does someone go?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0" y="23317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Mobility-Adjusted PM2.5
</a:t>
            </a:r>
            <a:r>
              <a:rPr lang="en-US" sz="12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Visitor-weighted destination PM2.5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Δ = destination − origin exposure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Captures true daily burden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&amp; METHODS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 Sources, One Integrated Pipeline</a:t>
            </a:r>
            <a:endParaRPr lang="en-US" sz="26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3DEE81E-BF5D-3161-5085-83AD845B0D51}"/>
              </a:ext>
            </a:extLst>
          </p:cNvPr>
          <p:cNvGrpSpPr/>
          <p:nvPr/>
        </p:nvGrpSpPr>
        <p:grpSpPr>
          <a:xfrm>
            <a:off x="457200" y="1188720"/>
            <a:ext cx="2286000" cy="1645920"/>
            <a:chOff x="457200" y="1188720"/>
            <a:chExt cx="2286000" cy="1645920"/>
          </a:xfrm>
        </p:grpSpPr>
        <p:sp>
          <p:nvSpPr>
            <p:cNvPr id="5" name="Shape 3"/>
            <p:cNvSpPr/>
            <p:nvPr/>
          </p:nvSpPr>
          <p:spPr>
            <a:xfrm>
              <a:off x="457200" y="1188720"/>
              <a:ext cx="2286000" cy="1645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9F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457200" y="1188720"/>
              <a:ext cx="2286000" cy="347472"/>
            </a:xfrm>
            <a:prstGeom prst="rect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594360" y="1188720"/>
              <a:ext cx="20116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GHAP PM2.5</a:t>
              </a:r>
              <a:endParaRPr lang="en-US" sz="13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94360" y="1600200"/>
              <a:ext cx="201168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C7A8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1km monthly rasters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6C7A8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2018–2021 · CV-R²=0.97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6C7A8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Wei et al. Nature Comm. 2023</a:t>
              </a:r>
              <a:endParaRPr lang="en-US" sz="11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5696A57-CD34-7711-1FE2-E9E2DBAAE290}"/>
              </a:ext>
            </a:extLst>
          </p:cNvPr>
          <p:cNvGrpSpPr/>
          <p:nvPr/>
        </p:nvGrpSpPr>
        <p:grpSpPr>
          <a:xfrm>
            <a:off x="3429000" y="1188720"/>
            <a:ext cx="2286000" cy="1645920"/>
            <a:chOff x="3429000" y="1188720"/>
            <a:chExt cx="2286000" cy="1645920"/>
          </a:xfrm>
        </p:grpSpPr>
        <p:sp>
          <p:nvSpPr>
            <p:cNvPr id="9" name="Shape 7"/>
            <p:cNvSpPr/>
            <p:nvPr/>
          </p:nvSpPr>
          <p:spPr>
            <a:xfrm>
              <a:off x="3429000" y="1188720"/>
              <a:ext cx="2286000" cy="1645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9F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3429000" y="1188720"/>
              <a:ext cx="2286000" cy="347472"/>
            </a:xfrm>
            <a:prstGeom prst="rect">
              <a:avLst/>
            </a:prstGeom>
            <a:solidFill>
              <a:srgbClr val="1B4F72"/>
            </a:solidFill>
            <a:ln w="12700">
              <a:solidFill>
                <a:srgbClr val="1B4F7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3566160" y="1188720"/>
              <a:ext cx="20116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SafeGraph Patterns</a:t>
              </a:r>
              <a:endParaRPr lang="en-US" sz="13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566160" y="1600200"/>
              <a:ext cx="201168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C7A8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POI visitor flows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6C7A8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origin → destination CBG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6C7A8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2,548 CBGs · 47 months</a:t>
              </a:r>
              <a:endParaRPr lang="en-US" sz="11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D1372D3-DEC9-5AE1-69E7-57F9E46B8642}"/>
              </a:ext>
            </a:extLst>
          </p:cNvPr>
          <p:cNvGrpSpPr/>
          <p:nvPr/>
        </p:nvGrpSpPr>
        <p:grpSpPr>
          <a:xfrm>
            <a:off x="6400800" y="1188720"/>
            <a:ext cx="2286000" cy="1645920"/>
            <a:chOff x="6400800" y="1188720"/>
            <a:chExt cx="2286000" cy="1645920"/>
          </a:xfrm>
        </p:grpSpPr>
        <p:sp>
          <p:nvSpPr>
            <p:cNvPr id="13" name="Shape 11"/>
            <p:cNvSpPr/>
            <p:nvPr/>
          </p:nvSpPr>
          <p:spPr>
            <a:xfrm>
              <a:off x="6400800" y="1188720"/>
              <a:ext cx="2286000" cy="1645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9F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2"/>
            <p:cNvSpPr/>
            <p:nvPr/>
          </p:nvSpPr>
          <p:spPr>
            <a:xfrm>
              <a:off x="6400800" y="1188720"/>
              <a:ext cx="2286000" cy="347472"/>
            </a:xfrm>
            <a:prstGeom prst="rect">
              <a:avLst/>
            </a:prstGeom>
            <a:solidFill>
              <a:srgbClr val="1A7A8A"/>
            </a:solidFill>
            <a:ln w="12700">
              <a:solidFill>
                <a:srgbClr val="1A7A8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6537960" y="1188720"/>
              <a:ext cx="20116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ACS 2019</a:t>
              </a:r>
              <a:endParaRPr lang="en-US" sz="13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537960" y="1600200"/>
              <a:ext cx="201168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C7A8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CBG demographics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6C7A8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Race · Income · Poverty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6C7A8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Vehicle access · Education</a:t>
              </a:r>
              <a:endParaRPr lang="en-US" sz="1100" dirty="0"/>
            </a:p>
          </p:txBody>
        </p:sp>
      </p:grpSp>
      <p:sp>
        <p:nvSpPr>
          <p:cNvPr id="17" name="Text 15"/>
          <p:cNvSpPr/>
          <p:nvPr/>
        </p:nvSpPr>
        <p:spPr>
          <a:xfrm>
            <a:off x="2924695" y="187867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7A8A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897880" y="1874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7A8A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8229600" cy="1005840"/>
          </a:xfrm>
          <a:prstGeom prst="rect">
            <a:avLst/>
          </a:prstGeom>
          <a:solidFill>
            <a:srgbClr val="EAF7FB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31272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8A"/>
                </a:solidFill>
              </a:rPr>
              <a:t>Key Variable: 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94560" y="312724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Difference in PM2.5 =  visitor-weighted mean of  ( PM2.5</a:t>
            </a:r>
            <a:r>
              <a:rPr lang="en-US" sz="1200" baseline="-25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−  PM2.5</a:t>
            </a:r>
            <a:r>
              <a:rPr lang="en-US" sz="1200" baseline="-25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  per CBG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3493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A89"/>
                </a:solidFill>
              </a:rPr>
              <a:t>Positive = residents travel into worse air than they live in    |    Negative = residents travel into cleaner air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7A89"/>
                </a:solidFill>
              </a:rPr>
              <a:t>Spatial Error Model (SEM) · Queen contiguity weights · λ = 0.984 · AIC improvement: +540 → −4,002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SCALE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Mobility-Driven PM2.5 Exposure in the DMV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64008" cy="1417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325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21792" y="1828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residents in this study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22219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2,548 CBGs · 47 months · 2018–2021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27832" y="123444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27832" y="1234440"/>
            <a:ext cx="64008" cy="14173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92424" y="1325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92424" y="1828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above EPA 9.0 μg/m³ at home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92424" y="22219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PM2.5 exceeds 2024 annual standard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98464" y="123444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98464" y="1234440"/>
            <a:ext cx="64008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63056" y="1325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63056" y="1828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into even worse air through mobility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63056" y="22219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in net-worse CBGs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816352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2816352"/>
            <a:ext cx="64008" cy="141732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" y="29077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+0.451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21792" y="34107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additional PM2.5 burden from daily mobility (μg/m³)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792" y="38039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already-exceeded EPA 9.0 standard 5% further — mobility compounds a baseline violation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27832" y="2816352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27832" y="2816352"/>
            <a:ext cx="64008" cy="1417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92424" y="29077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392424" y="34107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Moran's I — strong spatial clustering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92424" y="38039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burden is not random — it follows geography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98464" y="2816352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998464" y="2816352"/>
            <a:ext cx="64008" cy="14173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63056" y="29077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163056" y="34107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high pollution both at home AND on the move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63056" y="38039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burden — above median on both dimensions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7200" y="4681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Pop-weighted mean delta = +0.451 μg/m³  ·  Residential methods understate true exposure by 4.4%  ·  Sources: GHAP PM2.5 · SafeGraph · ACS 2019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DEMOGRAPHICS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Dependence — Not Race — Drives Mobility Exposure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% No Vehicle — Strong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417320"/>
          <a:ext cx="38404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% Nonwhite — Negligible</a:t>
            </a:r>
            <a:endParaRPr lang="en-US" sz="12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846320" y="1417320"/>
          <a:ext cx="38404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A89"/>
                </a:solidFill>
              </a:rPr>
              <a:t>Car-free CBGs travel to incrementally less worse air — they are already urban/central. Car-owning suburbs commute into higher-PM2.5 corridors.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SPATIAL PATTERN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Live Determines Where You Can Go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1605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map_delt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6834" y="1179576"/>
            <a:ext cx="3206932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114800"/>
            <a:ext cx="4160520" cy="749808"/>
          </a:xfrm>
          <a:prstGeom prst="rect">
            <a:avLst/>
          </a:prstGeom>
          <a:solidFill>
            <a:srgbClr val="F4F6F7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41605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Mobility-Driven Exposure Differential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4074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 ring (red) commutes into worse air than home.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core (white/blue) already at pollution ceiling.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663440" y="1115568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63440" y="1115568"/>
            <a:ext cx="416052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map_residential.png"/>
          <p:cNvPicPr>
            <a:picLocks/>
          </p:cNvPicPr>
          <p:nvPr/>
        </p:nvPicPr>
        <p:blipFill>
          <a:blip r:embed="rId4"/>
          <a:srcRect/>
          <a:stretch/>
        </p:blipFill>
        <p:spPr>
          <a:xfrm>
            <a:off x="5138928" y="1179576"/>
            <a:ext cx="3209544" cy="29260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663440" y="4114800"/>
            <a:ext cx="4160520" cy="749808"/>
          </a:xfrm>
          <a:prstGeom prst="rect">
            <a:avLst/>
          </a:prstGeom>
          <a:solidFill>
            <a:srgbClr val="F4F6F7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800600" y="41605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PM2.5 Baseline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800600" y="44074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core already high at home.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 ring starts clean — but daily commutes change that.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23367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TEMPORAL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Halved Mobility-Driven Exposure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143000"/>
          <a:ext cx="5943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3063240" y="1143000"/>
            <a:ext cx="0" cy="320040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108960" y="1188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</a:rPr>
              <a:t>COVID-19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</a:rPr>
              <a:t>Mar 2020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0" y="1234440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583680" y="1234440"/>
            <a:ext cx="54864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720840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</a:rPr>
              <a:t>0.528 μg/m³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720840" y="15819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</a:rPr>
              <a:t>2019 mean Δ (pre-COVID)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583680" y="2103120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583680" y="2103120"/>
            <a:ext cx="54864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72084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</a:rPr>
              <a:t>0.266 μg/m³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720840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</a:rPr>
              <a:t>2020 mean Δ  (−50%)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583680" y="2971800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583680" y="2971800"/>
            <a:ext cx="54864" cy="64008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72084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8A"/>
                </a:solidFill>
              </a:rPr>
              <a:t>0.208 μg/m³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720840" y="33192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</a:rPr>
              <a:t>2021 mean Δ (still below 2020)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7A89"/>
                </a:solidFill>
              </a:rPr>
              <a:t>Paired t-test: mean difference = −0.262 μg/m³, p &lt; 0.001 · When mobility collapsed, the exposure gap closed.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TEMPORAL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Mobility Collapse — Visible in the Flow Maps</a:t>
            </a:r>
            <a:endParaRPr lang="en-US" sz="2400" dirty="0"/>
          </a:p>
        </p:txBody>
      </p:sp>
      <p:pic>
        <p:nvPicPr>
          <p:cNvPr id="5" name="Image 0" descr="/home/claude/pre_covid_fl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097280"/>
            <a:ext cx="429768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4315968"/>
            <a:ext cx="429768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28600" y="43159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Pre-COVID (2018–2019) — Dense red flows, high-volume commuting into worse air</a:t>
            </a:r>
            <a:endParaRPr lang="en-US" sz="900" dirty="0"/>
          </a:p>
        </p:txBody>
      </p:sp>
      <p:pic>
        <p:nvPicPr>
          <p:cNvPr id="8" name="Image 1" descr="/home/claude/covid_flow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1097280"/>
            <a:ext cx="4297680" cy="3200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617720" y="4315968"/>
            <a:ext cx="42976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617720" y="43159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COVID Era (2020–2021) — Sparse blue/purple flows, commuting collapsed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traveling into worse air  |  Blue/teal = traveling into cleaner air  |  Line thickness = visitor volume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THEME 3 — SPATIAL TRAP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Nonwhite CBGs Cluster Where There Is No Escape</a:t>
            </a:r>
            <a:endParaRPr lang="en-US" sz="2400" dirty="0"/>
          </a:p>
        </p:txBody>
      </p:sp>
      <p:pic>
        <p:nvPicPr>
          <p:cNvPr id="5" name="Image 0" descr="/home/claude/annotated_scat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658368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40880" y="114300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040880" y="1143000"/>
            <a:ext cx="54864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150608" y="1216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</a:rPr>
              <a:t>Suburban commuters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50608" y="147218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residential PM2.5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mobility delta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into worse air daily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040880" y="233172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040880" y="2331720"/>
            <a:ext cx="54864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150608" y="2404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</a:rPr>
              <a:t>Spatial trap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150608" y="266090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residential PM2.5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mobility delta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at pollution ceiling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040880" y="352044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040880" y="3520440"/>
            <a:ext cx="54864" cy="10058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150608" y="3593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0000"/>
                </a:solidFill>
              </a:rPr>
              <a:t>Compound burden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150608" y="384962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residential PM2.5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mobility delta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1.7M people affected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negative slope confirms the spatial trap — as residential PM2.5 increases, mobility delta falls. Dark dots (nonwhite CBGs) cluster in the trap quadrant.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REGRESSION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Spatial Regression?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Model Selection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1508760"/>
          <a:ext cx="8229600" cy="17373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Moran's 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+539.6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Biased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SEM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−3,979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SLM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Residual autocorrelation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SEM+Interaction  PRIMARY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−4,002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Primary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438144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3438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49808" y="34015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Moran's I = 0.612 — neighboring CBGs share unobserved factors → standard errors biased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63440" y="3438144"/>
            <a:ext cx="201168" cy="201168"/>
          </a:xfrm>
          <a:prstGeom prst="ellipse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663440" y="3438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956048" y="34015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tests: adjRSerr = 2,004 &gt;&gt; adjRSlag = 152 → SEM preferred over spatial lag model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3968496"/>
            <a:ext cx="201168" cy="201168"/>
          </a:xfrm>
          <a:prstGeom prst="ellipse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3968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49808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0.984 — spatial error absorbs urban form and transit infrastructure clustering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63440" y="3968496"/>
            <a:ext cx="201168" cy="20116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663440" y="3968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956048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sign flip: OLS +0.107 → SEM −0.013 (NS). Geography was doing the work, not income.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SPATIAL TRAP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Spatial Trap: Nonwhite CBGs in Polluted Areas Cannot Escape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Low residential PM2.5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(suburban, ~9.3 μg/m³)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</a:rPr>
              <a:t>Effect of race on Δ PM2.5: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</a:rPr>
              <a:t>+0.00117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</a:rPr>
              <a:t>per 1% nonwhite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31546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0392B"/>
                </a:solidFill>
              </a:rPr>
              <a:t>Nonwhite CBGs travel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C0392B"/>
                </a:solidFill>
              </a:rPr>
              <a:t>into worse air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46120" y="1188720"/>
            <a:ext cx="265176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0" y="12984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Median residential PM2.5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(~10.2 μg/m³)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83280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</a:rPr>
              <a:t>Effect of race on Δ PM2.5: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0" y="2286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F72"/>
                </a:solidFill>
              </a:rPr>
              <a:t>+0.00070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83280" y="28346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</a:rPr>
              <a:t>per 1% nonwhite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83280" y="31546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4F72"/>
                </a:solidFill>
              </a:rPr>
              <a:t>Effect shrinks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B4F72"/>
                </a:solidFill>
              </a:rPr>
              <a:t>as baseline rises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11887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35040" y="1188720"/>
            <a:ext cx="2651760" cy="54864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72200" y="12984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High residential PM2.5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(urban, ~10.8 μg/m³)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72200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</a:rPr>
              <a:t>Effect of race on Δ PM2.5: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72200" y="2286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A8A"/>
                </a:solidFill>
              </a:rPr>
              <a:t>+0.00039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172200" y="28346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</a:rPr>
              <a:t>per 1% nonwhite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72200" y="31546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7A8A"/>
                </a:solidFill>
              </a:rPr>
              <a:t>Nonwhite CBGs trapped —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A7A8A"/>
                </a:solidFill>
              </a:rPr>
              <a:t>no escape via mobility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LIMITATIONS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023360" cy="1371600"/>
          </a:xfrm>
          <a:prstGeom prst="rect">
            <a:avLst/>
          </a:prstGeom>
          <a:solidFill>
            <a:srgbClr val="F4F6F7"/>
          </a:solidFill>
          <a:ln w="12700">
            <a:solidFill>
              <a:srgbClr val="DCE9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4864" cy="1371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SafeGraph sampling bias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1792" y="1517904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Underrepresents Hispanic and low-income populations — EJ signal is likely conservative. True burden may be larger.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170432"/>
            <a:ext cx="4023360" cy="1371600"/>
          </a:xfrm>
          <a:prstGeom prst="rect">
            <a:avLst/>
          </a:prstGeom>
          <a:solidFill>
            <a:srgbClr val="F4F6F7"/>
          </a:solidFill>
          <a:ln w="12700">
            <a:solidFill>
              <a:srgbClr val="DCE9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170432"/>
            <a:ext cx="45719" cy="1371600"/>
          </a:xfrm>
          <a:prstGeom prst="rect">
            <a:avLst/>
          </a:prstGeom>
          <a:solidFill>
            <a:srgbClr val="6C7A89"/>
          </a:solidFill>
          <a:ln w="12700">
            <a:solidFill>
              <a:srgbClr val="6C7A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28032" y="12435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POI-based mobility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28032" y="1517904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visits to registered points of interest only. Informal destinations, parks, and residential visits are missed.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2766060"/>
            <a:ext cx="4023360" cy="1371600"/>
          </a:xfrm>
          <a:prstGeom prst="rect">
            <a:avLst/>
          </a:prstGeom>
          <a:solidFill>
            <a:srgbClr val="F4F6F7"/>
          </a:solidFill>
          <a:ln w="12700">
            <a:solidFill>
              <a:srgbClr val="DCE9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71753" y="2766059"/>
            <a:ext cx="45719" cy="1360239"/>
          </a:xfrm>
          <a:prstGeom prst="rect">
            <a:avLst/>
          </a:prstGeom>
          <a:solidFill>
            <a:srgbClr val="6C7A89"/>
          </a:solidFill>
          <a:ln w="12700">
            <a:solidFill>
              <a:srgbClr val="6C7A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28032" y="28895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Static demographics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28032" y="3140964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 2019 5-year estimates applied across 2018–2021. Demographic shifts during COVID period are not captured.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59" y="2766060"/>
            <a:ext cx="4023360" cy="1371600"/>
          </a:xfrm>
          <a:prstGeom prst="rect">
            <a:avLst/>
          </a:prstGeom>
          <a:solidFill>
            <a:srgbClr val="F4F6F7"/>
          </a:solidFill>
          <a:ln w="12700">
            <a:solidFill>
              <a:srgbClr val="DCE9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2759271"/>
            <a:ext cx="45719" cy="136702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" y="28895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DMV-specific findings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792" y="3170682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signal is weak due to DMV's unusual demographic geography. Industrial metros may show stronger race effect.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681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affects direction of findings  ·  Blue = affects generalizability  ·  Gray = scope constraints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148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0515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3.4M DMV residents (80.7%) travel into worse air — mean mobility exposure differential = +0.451 μg/m³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1755648"/>
            <a:ext cx="411480" cy="5486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8013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dependence (not race alone) is the primary demographic driver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505456"/>
            <a:ext cx="411480" cy="54864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505456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55117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— mobility collapse halved the exposure differential, confirming daily travel as the causal mechanism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255264"/>
            <a:ext cx="411480" cy="548640"/>
          </a:xfrm>
          <a:prstGeom prst="rect">
            <a:avLst/>
          </a:prstGeom>
          <a:solidFill>
            <a:srgbClr val="A9CCE3"/>
          </a:solidFill>
          <a:ln w="12700">
            <a:solidFill>
              <a:srgbClr val="A9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325526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30098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trap — nonwhite CBGs in already-polluted areas cannot escape through mobility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4005072"/>
            <a:ext cx="411480" cy="548640"/>
          </a:xfrm>
          <a:prstGeom prst="rect">
            <a:avLst/>
          </a:prstGeom>
          <a:solidFill>
            <a:srgbClr val="7FB3D3"/>
          </a:solidFill>
          <a:ln w="12700">
            <a:solidFill>
              <a:srgbClr val="7FB3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4005072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0507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residential-based EJ tools understate true exposure burden — mobility must be incorporated into policy screening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1086</Words>
  <Application>Microsoft Office PowerPoint</Application>
  <PresentationFormat>On-screen Show (16:9)</PresentationFormat>
  <Paragraphs>193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Residence: Mobility-Driven PM2.5 Exposure Disparity in the DMV</dc:title>
  <dc:subject>PptxGenJS Presentation</dc:subject>
  <dc:creator>PptxGenJS</dc:creator>
  <cp:lastModifiedBy>Son, Jin-Hyuk</cp:lastModifiedBy>
  <cp:revision>16</cp:revision>
  <dcterms:created xsi:type="dcterms:W3CDTF">2026-04-22T06:35:59Z</dcterms:created>
  <dcterms:modified xsi:type="dcterms:W3CDTF">2026-04-28T11:08:21Z</dcterms:modified>
</cp:coreProperties>
</file>